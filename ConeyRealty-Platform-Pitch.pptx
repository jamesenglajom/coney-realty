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84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</a:t>
            </a:r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REVIEW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320040" cy="0"/>
          </a:xfrm>
          <a:prstGeom prst="line">
            <a:avLst/>
          </a:prstGeom>
          <a:noFill/>
          <a:ln w="15875">
            <a:solidFill>
              <a:srgbClr val="B6AA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1091153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C22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Coney</a:t>
            </a:r>
            <a:pPr indent="0" marL="0">
              <a:buNone/>
            </a:pPr>
            <a:r>
              <a:rPr lang="en-US" sz="6000" b="1" i="1" dirty="0">
                <a:solidFill>
                  <a:srgbClr val="8F84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Realty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estate platform built for this business — property listings, agent performance, and viewing requests, all in one place we own outright.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C22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Leadership Review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0" y="3749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C22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&amp; in production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09360" y="3749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0936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C22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Next.js · Supabase · Vercel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84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 TODAY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320040" cy="0"/>
          </a:xfrm>
          <a:prstGeom prst="line">
            <a:avLst/>
          </a:prstGeom>
          <a:noFill/>
          <a:ln w="15875">
            <a:solidFill>
              <a:srgbClr val="B6AA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C22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Listings live wherever we last posted them.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groups, Viber chats, printed tarps — every channel works alone. No shared record of what's for sale, who's assigned to it, or who actually brought in the buyer.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6AA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283464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source of truth
</a:t>
            </a:r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listing's price, status, or photos can drift between the group post, the tarpaulin, and whoever remembers correctly.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547872"/>
            <a:ext cx="9098280" cy="0"/>
          </a:xfrm>
          <a:prstGeom prst="line">
            <a:avLst/>
          </a:prstGeom>
          <a:noFill/>
          <a:ln w="9525">
            <a:solidFill>
              <a:srgbClr val="E4DD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79476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6AA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379476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attribution when a link gets shared
</a:t>
            </a:r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shares a post, a buyer messages a different agent, and the referring agent gets no credit for the lead they generated.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507992"/>
            <a:ext cx="9098280" cy="0"/>
          </a:xfrm>
          <a:prstGeom prst="line">
            <a:avLst/>
          </a:prstGeom>
          <a:noFill/>
          <a:ln w="9525">
            <a:solidFill>
              <a:srgbClr val="E4DD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75488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6AA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475488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requests handled one DM at a time
</a:t>
            </a:r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calendar, no record of who asked to see what, no way to see this month's activity at a glance.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468112"/>
            <a:ext cx="9098280" cy="0"/>
          </a:xfrm>
          <a:prstGeom prst="line">
            <a:avLst/>
          </a:prstGeom>
          <a:noFill/>
          <a:ln w="9525">
            <a:solidFill>
              <a:srgbClr val="E4DD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ConeyRealty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18001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84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</a:t>
            </a:r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320040" cy="0"/>
          </a:xfrm>
          <a:prstGeom prst="line">
            <a:avLst/>
          </a:prstGeom>
          <a:noFill/>
          <a:ln w="15875">
            <a:solidFill>
              <a:srgbClr val="B6AA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0C22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platform, two sides — a public site buyers actually search, and a back office we run the business from.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isn't a mockup or a proposal. It's live now, indexed by Google, and already listing real inventory with real photos.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949440" y="1188720"/>
            <a:ext cx="21488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0" y="13258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C22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086600" y="196596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Sides — public marketing site + admin back office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281160" y="1188720"/>
            <a:ext cx="21488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81160" y="13258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C22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418320" y="196596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roles with distinct permissions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949440" y="2788920"/>
            <a:ext cx="21488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29260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C22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086600" y="356616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every listing, agent, and lead lives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281160" y="2788920"/>
            <a:ext cx="21488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9260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C22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418320" y="356616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fee to a third-party listing platform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ConeyRealty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18001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84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</a:t>
            </a:r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BUYERS SEE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320040" cy="0"/>
          </a:xfrm>
          <a:prstGeom prst="line">
            <a:avLst/>
          </a:prstGeom>
          <a:noFill/>
          <a:ln w="15875">
            <a:solidFill>
              <a:srgbClr val="B6AA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C22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public site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60669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32409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2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770632"/>
            <a:ext cx="324093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location, budget, and type — House and Lot or Land — with results that stay bookmarkable and shareable.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2498" y="1874520"/>
            <a:ext cx="360669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75378" y="2011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🏠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75378" y="2423160"/>
            <a:ext cx="32409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2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property pages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75378" y="2770632"/>
            <a:ext cx="324093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gallery, price, specs, nearby establishments, and a description the team writes once and reuses everywhere.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944917" y="1874520"/>
            <a:ext cx="360669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7797" y="2011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🧑‍💼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127797" y="2423160"/>
            <a:ext cx="32409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2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profiles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127797" y="2770632"/>
            <a:ext cx="324093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gets their own page listing their active properties — a real presence, not just a name on a post.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703320"/>
            <a:ext cx="360669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840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4251960"/>
            <a:ext cx="32409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2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" y="4599432"/>
            <a:ext cx="324093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rotating showcase of this period's leading agents, curated from the admin side, on the homepage itself.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92498" y="3703320"/>
            <a:ext cx="360669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75378" y="3840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475378" y="4251960"/>
            <a:ext cx="32409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2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testimonials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475378" y="4599432"/>
            <a:ext cx="324093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quotes tied to the agent who earned them, carousel-driven, easy to add to from the admin panel.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944917" y="3703320"/>
            <a:ext cx="360669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27797" y="3840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127797" y="4251960"/>
            <a:ext cx="32409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2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viewing online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127797" y="4599432"/>
            <a:ext cx="324093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buyer picks properties and submits a request straight from the site — no back-and-forth needed to get started.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ConeyRealty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18001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84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</a:t>
            </a:r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RUN IT 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320040" cy="0"/>
          </a:xfrm>
          <a:prstGeom prst="line">
            <a:avLst/>
          </a:prstGeom>
          <a:noFill/>
          <a:ln w="15875">
            <a:solidFill>
              <a:srgbClr val="B6AA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C22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back office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60669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32409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2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770632"/>
            <a:ext cx="324093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SAdmin, Admin, Manager, Agent — each sees and edits only what their role allows, page by page.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2498" y="1874520"/>
            <a:ext cx="360669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75378" y="2011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🗂️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75378" y="2423160"/>
            <a:ext cx="32409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2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property management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75378" y="2770632"/>
            <a:ext cx="324093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edit, assign agents, mark on-hold or sold, import in bulk — with fields tailored per property type.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944917" y="1874520"/>
            <a:ext cx="360669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7797" y="2011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127797" y="2423160"/>
            <a:ext cx="32409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2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127797" y="2770632"/>
            <a:ext cx="324093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by status and type, sales trend, top agents by volume — the numbers, not the guesswork.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703320"/>
            <a:ext cx="360669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840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4251960"/>
            <a:ext cx="32409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2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permission management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" y="4599432"/>
            <a:ext cx="324093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staff, reset passwords, adjust what each role can see — no developer needed for day-to-day changes.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92498" y="3703320"/>
            <a:ext cx="360669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75378" y="3840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475378" y="4251960"/>
            <a:ext cx="32409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2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request queue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475378" y="4599432"/>
            <a:ext cx="324093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booking lands in one list, attributed to the referring agent automatically.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944917" y="3703320"/>
            <a:ext cx="360669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27797" y="3840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✍️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127797" y="4251960"/>
            <a:ext cx="32409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2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&amp; content tools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127797" y="4599432"/>
            <a:ext cx="324093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market updates and guides straight from the admin panel — no separate CMS subscription.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ConeyRealty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18001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22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6AA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</a:t>
            </a:r>
            <a:pPr indent="0" marL="0">
              <a:buNone/>
            </a:pPr>
            <a:r>
              <a:rPr lang="en-US" sz="1100" b="1" dirty="0">
                <a:solidFill>
                  <a:srgbClr val="B6A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THING NOBODY ELSE HAS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320040" cy="0"/>
          </a:xfrm>
          <a:prstGeom prst="line">
            <a:avLst/>
          </a:prstGeom>
          <a:noFill/>
          <a:ln w="15875">
            <a:solidFill>
              <a:srgbClr val="B6AA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agent gets a link that's provably theirs.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taps “Get my URL” on any listing or on the homepage. Whoever clicks it and books a viewing is automatically credited to that agent — even if the buyer never mentions who sent them.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2331720" cy="1371600"/>
          </a:xfrm>
          <a:prstGeom prst="roundRect">
            <a:avLst>
              <a:gd name="adj" fmla="val 4000"/>
            </a:avLst>
          </a:prstGeom>
          <a:solidFill>
            <a:srgbClr val="1A3358"/>
          </a:solidFill>
          <a:ln w="12700">
            <a:solidFill>
              <a:srgbClr val="3A4A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342900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AA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374904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shares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their link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971800" y="37490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AA84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91840" y="3291840"/>
            <a:ext cx="2331720" cy="1371600"/>
          </a:xfrm>
          <a:prstGeom prst="roundRect">
            <a:avLst>
              <a:gd name="adj" fmla="val 4000"/>
            </a:avLst>
          </a:prstGeom>
          <a:solidFill>
            <a:srgbClr val="1A3358"/>
          </a:solidFill>
          <a:ln w="12700">
            <a:solidFill>
              <a:srgbClr val="3A4A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6432" y="342900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AA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56432" y="374904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Buyer clicks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browses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623560" y="37490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AA84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0" y="3291840"/>
            <a:ext cx="2331720" cy="1371600"/>
          </a:xfrm>
          <a:prstGeom prst="roundRect">
            <a:avLst>
              <a:gd name="adj" fmla="val 4000"/>
            </a:avLst>
          </a:prstGeom>
          <a:solidFill>
            <a:srgbClr val="1A3358"/>
          </a:solidFill>
          <a:ln w="12700">
            <a:solidFill>
              <a:srgbClr val="3A4A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08192" y="342900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AA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08192" y="374904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Buyer books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viewing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75320" y="37490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AA84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595360" y="3291840"/>
            <a:ext cx="2331720" cy="1371600"/>
          </a:xfrm>
          <a:prstGeom prst="roundRect">
            <a:avLst>
              <a:gd name="adj" fmla="val 4000"/>
            </a:avLst>
          </a:prstGeom>
          <a:solidFill>
            <a:srgbClr val="1A3358"/>
          </a:solidFill>
          <a:ln w="12700">
            <a:solidFill>
              <a:srgbClr val="3A4A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59952" y="342900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AA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759952" y="374904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6AA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gets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6AA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credit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CE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ConeyRealty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18001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C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84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</a:t>
            </a:r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WON'T FALL OVER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320040" cy="0"/>
          </a:xfrm>
          <a:prstGeom prst="line">
            <a:avLst/>
          </a:prstGeom>
          <a:noFill/>
          <a:ln w="15875">
            <a:solidFill>
              <a:srgbClr val="B6AA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6126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0C22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the same infrastructure Fortune 500 sites run on — not a page-builder plugin stack.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6AA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74320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on Vercel
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hosting platform behind Airbnb, Nike, and Notion — automatic scaling, global speed.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6AA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(Postgres)
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relational database with daily backups — not a spreadsheet, not a plugin's private storage.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448056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6AA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448056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own the code
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page-builder subscription that can raise prices or shut down. It's ours, hosted under our own accounts.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949440" y="1188720"/>
            <a:ext cx="46177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86600" y="132588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C22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086600" y="196596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Mobile-responsive, every page, every screen size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49440" y="2788920"/>
            <a:ext cx="46177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86600" y="292608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C22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086600" y="356616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search visibility — real HTML, real metadata, not a JS-only shell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ConeyRealty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001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84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</a:t>
            </a:r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REPLACES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320040" cy="0"/>
          </a:xfrm>
          <a:prstGeom prst="line">
            <a:avLst/>
          </a:prstGeom>
          <a:noFill/>
          <a:ln w="15875">
            <a:solidFill>
              <a:srgbClr val="B6AA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C22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Compared to the usual options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515258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0"/>
            <a:ext cx="31494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&amp; VIBER ONLY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31494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C22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₱0 upfront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314949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No search, filters, or dedicated pages
</a:t>
            </a:r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No lead attribution — ever
</a:t>
            </a:r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No analytics on what's working
</a:t>
            </a:r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Listings buried within days
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38218" y="1828800"/>
            <a:ext cx="3515258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1098" y="2011680"/>
            <a:ext cx="31494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A WEB AGENCY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21098" y="2377440"/>
            <a:ext cx="31494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C22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₱300k+ and months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21098" y="3017520"/>
            <a:ext cx="314949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Generic template, not built for this workflow
</a:t>
            </a:r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Ongoing changes billed by the hour
</a:t>
            </a:r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No admin tooling built around real estate
</a:t>
            </a:r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Handoff risk if the agency moves on
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36357" y="1828800"/>
            <a:ext cx="3515258" cy="4114800"/>
          </a:xfrm>
          <a:prstGeom prst="rect">
            <a:avLst/>
          </a:prstGeom>
          <a:solidFill>
            <a:srgbClr val="F4F2EB"/>
          </a:solidFill>
          <a:ln w="19050">
            <a:solidFill>
              <a:srgbClr val="B6AA8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19237" y="2011680"/>
            <a:ext cx="31494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2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CONEYREALTY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19237" y="2377440"/>
            <a:ext cx="31494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C22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Already built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219237" y="3017520"/>
            <a:ext cx="314949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Purpose-built for this exact business
</a:t>
            </a:r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Referral attribution out of the box
</a:t>
            </a:r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Live dashboard, no guesswork
</a:t>
            </a:r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 own it — no agency dependency
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ConeyRealty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001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84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</a:t>
            </a:r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NUMBER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320040" cy="0"/>
          </a:xfrm>
          <a:prstGeom prst="line">
            <a:avLst/>
          </a:prstGeom>
          <a:noFill/>
          <a:ln w="15875">
            <a:solidFill>
              <a:srgbClr val="B6AA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C22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monthly fee to a listing platform. Only the hosting it runs on.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breakdown — and how we recommend pricing this going forward — is in the companion pricing memo. The short version: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2693594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200400"/>
            <a:ext cx="241927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C22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~₱3,000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241927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monthly hosting cost at production tier (site + database)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79394" y="3017520"/>
            <a:ext cx="2693594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16554" y="3200400"/>
            <a:ext cx="241927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C22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₱0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516554" y="3794760"/>
            <a:ext cx="241927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to any third-party listing site or page-builder subscription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18708" y="3017520"/>
            <a:ext cx="2693594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5868" y="3200400"/>
            <a:ext cx="241927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C22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255868" y="3794760"/>
            <a:ext cx="241927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renewal, once a year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858021" y="3017520"/>
            <a:ext cx="2693594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D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95181" y="3200400"/>
            <a:ext cx="241927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C22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995181" y="3794760"/>
            <a:ext cx="241927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platform stays ours, whatever we decide next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ConeyRealty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18001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22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6AA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</a:t>
            </a:r>
            <a:pPr indent="0" marL="0">
              <a:buNone/>
            </a:pPr>
            <a:r>
              <a:rPr lang="en-US" sz="1100" b="1" dirty="0">
                <a:solidFill>
                  <a:srgbClr val="B6A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" y="841248"/>
            <a:ext cx="320040" cy="0"/>
          </a:xfrm>
          <a:prstGeom prst="line">
            <a:avLst/>
          </a:prstGeom>
          <a:noFill/>
          <a:ln w="15875">
            <a:solidFill>
              <a:srgbClr val="B6AA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make it official.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84048" cy="384048"/>
          </a:xfrm>
          <a:prstGeom prst="ellipse">
            <a:avLst/>
          </a:prstGeom>
          <a:solidFill>
            <a:srgbClr val="0C2241"/>
          </a:solidFill>
          <a:ln w="15875">
            <a:solidFill>
              <a:srgbClr val="B6AA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6AA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2331720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production hosting budget so the site runs on paid, commercial-grade tiers instead of free ones.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384048" cy="384048"/>
          </a:xfrm>
          <a:prstGeom prst="ellipse">
            <a:avLst/>
          </a:prstGeom>
          <a:solidFill>
            <a:srgbClr val="0C2241"/>
          </a:solidFill>
          <a:ln w="15875">
            <a:solidFill>
              <a:srgbClr val="B6AA8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6AA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3200400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on who owns ongoing maintenance and how that's compensated — see the pricing memo for a concrete recommendation.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114800"/>
            <a:ext cx="384048" cy="384048"/>
          </a:xfrm>
          <a:prstGeom prst="ellipse">
            <a:avLst/>
          </a:prstGeom>
          <a:solidFill>
            <a:srgbClr val="0C2241"/>
          </a:solidFill>
          <a:ln w="15875">
            <a:solidFill>
              <a:srgbClr val="B6AA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6AA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4069080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date to fully announce it to the team and start routing every listing through it.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CE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ConeyRealty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18001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C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ConeyRealty Platform Pitch</dc:title>
  <dc:subject>PptxGenJS Presentation</dc:subject>
  <dc:creator>ConeyRealty</dc:creator>
  <cp:lastModifiedBy>ConeyRealty</cp:lastModifiedBy>
  <cp:revision>1</cp:revision>
  <dcterms:created xsi:type="dcterms:W3CDTF">2026-09-08T01:29:12Z</dcterms:created>
  <dcterms:modified xsi:type="dcterms:W3CDTF">2026-09-08T01:29:12Z</dcterms:modified>
</cp:coreProperties>
</file>